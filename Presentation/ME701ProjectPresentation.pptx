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atsi" charset="1" panose="00000500000000000000"/>
      <p:regular r:id="rId20"/>
    </p:embeddedFont>
    <p:embeddedFont>
      <p:font typeface="Poppins" charset="1" panose="00000500000000000000"/>
      <p:regular r:id="rId21"/>
    </p:embeddedFont>
    <p:embeddedFont>
      <p:font typeface="Open Sans Bold" charset="1" panose="020B0806030504020204"/>
      <p:regular r:id="rId22"/>
    </p:embeddedFont>
    <p:embeddedFont>
      <p:font typeface="Canva Sans" charset="1" panose="020B0503030501040103"/>
      <p:regular r:id="rId23"/>
    </p:embeddedFont>
    <p:embeddedFont>
      <p:font typeface="Abhaya Libre" charset="1" panose="02000503000000000000"/>
      <p:regular r:id="rId24"/>
    </p:embeddedFont>
    <p:embeddedFont>
      <p:font typeface="Canva Sans Bold" charset="1" panose="020B0803030501040103"/>
      <p:regular r:id="rId25"/>
    </p:embeddedFont>
    <p:embeddedFont>
      <p:font typeface="Abhaya Libre Bold" charset="1" panose="02000803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4361933" y="3851945"/>
            <a:ext cx="8534002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0"/>
              </a:lnSpc>
            </a:pPr>
            <a:r>
              <a:rPr lang="en-US" sz="15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ME701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16260" y="6181434"/>
            <a:ext cx="12625348" cy="19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57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Docking Adapter</a:t>
            </a:r>
          </a:p>
          <a:p>
            <a:pPr algn="ctr">
              <a:lnSpc>
                <a:spcPts val="8029"/>
              </a:lnSpc>
            </a:pPr>
            <a:r>
              <a:rPr lang="en-US" sz="57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Latch Optimization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118095" y="1998125"/>
            <a:ext cx="7612891" cy="761289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777" t="0" r="-277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510356" y="5602720"/>
            <a:ext cx="6237155" cy="68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sz="3841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23B2120 | Aditya Nimbalkar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08984" y="2946795"/>
            <a:ext cx="6262218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6612" y="2946795"/>
            <a:ext cx="1522542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8984" y="3788536"/>
            <a:ext cx="5576440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Notation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6612" y="3788717"/>
            <a:ext cx="1619933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08984" y="5461213"/>
            <a:ext cx="6262218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Objective Function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6612" y="4630276"/>
            <a:ext cx="1662583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96612" y="5472198"/>
            <a:ext cx="1685660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34943" y="2939256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34943" y="3826636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34943" y="4679362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34943" y="5510298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242350" y="1992706"/>
            <a:ext cx="5179417" cy="5179417"/>
          </a:xfrm>
          <a:custGeom>
            <a:avLst/>
            <a:gdLst/>
            <a:ahLst/>
            <a:cxnLst/>
            <a:rect r="r" b="b" t="t" l="l"/>
            <a:pathLst>
              <a:path h="5179417" w="5179417">
                <a:moveTo>
                  <a:pt x="0" y="0"/>
                </a:moveTo>
                <a:lnTo>
                  <a:pt x="5179417" y="0"/>
                </a:lnTo>
                <a:lnTo>
                  <a:pt x="5179417" y="5179417"/>
                </a:lnTo>
                <a:lnTo>
                  <a:pt x="0" y="517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208984" y="6311298"/>
            <a:ext cx="6262218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Optimizer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08984" y="4627635"/>
            <a:ext cx="6262218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Constraints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16729" y="6311298"/>
            <a:ext cx="1689033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34943" y="6349398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08984" y="7067348"/>
            <a:ext cx="6262218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276" indent="-414638" lvl="1">
              <a:lnSpc>
                <a:spcPts val="5377"/>
              </a:lnSpc>
              <a:buFont typeface="Arial"/>
              <a:buChar char="•"/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16729" y="7067348"/>
            <a:ext cx="1689033" cy="68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77"/>
              </a:lnSpc>
            </a:pPr>
            <a:r>
              <a:rPr lang="en-US" sz="3841" spc="-7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4943" y="7105448"/>
            <a:ext cx="181410" cy="6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PROBLEM STATEMENT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5505" y="2519621"/>
            <a:ext cx="10968223" cy="582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14" indent="-278557" lvl="1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The Docking Adapter Unit (DAU) uses a three-latch mechanism, each implemented as a planar RRRP linkage actuated by a linear slider.</a:t>
            </a:r>
          </a:p>
          <a:p>
            <a:pPr algn="l" marL="557114" indent="-278557" lvl="1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The slider motion produces a coupled radial and axial motion of the latch tip:</a:t>
            </a:r>
          </a:p>
          <a:p>
            <a:pPr algn="l" marL="1114229" indent="-371410" lvl="2">
              <a:lnSpc>
                <a:spcPts val="3612"/>
              </a:lnSpc>
              <a:buFont typeface="Arial"/>
              <a:buChar char="⚬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Radial motion allows the latch to enter the recess of the female docking interface</a:t>
            </a:r>
          </a:p>
          <a:p>
            <a:pPr algn="l" marL="1114229" indent="-371410" lvl="2">
              <a:lnSpc>
                <a:spcPts val="3612"/>
              </a:lnSpc>
              <a:buFont typeface="Arial"/>
              <a:buChar char="⚬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Axial motion pulls the two docking ports together and generates preload DAU-work-updates</a:t>
            </a:r>
          </a:p>
          <a:p>
            <a:pPr algn="l" marL="557114" indent="-278557" lvl="1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The geometry of this linkage determines the trajectory of the latch tip and the force transmission characteristics of the mechanism.</a:t>
            </a:r>
          </a:p>
          <a:p>
            <a:pPr algn="l" marL="557114" indent="-278557" lvl="1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 feasible linkage geometry has already been obtained through preliminary synthesis, but it is not optimal.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430169" y="2776759"/>
            <a:ext cx="6614938" cy="5123825"/>
          </a:xfrm>
          <a:custGeom>
            <a:avLst/>
            <a:gdLst/>
            <a:ahLst/>
            <a:cxnLst/>
            <a:rect r="r" b="b" t="t" l="l"/>
            <a:pathLst>
              <a:path h="5123825" w="6614938">
                <a:moveTo>
                  <a:pt x="0" y="0"/>
                </a:moveTo>
                <a:lnTo>
                  <a:pt x="6614938" y="0"/>
                </a:lnTo>
                <a:lnTo>
                  <a:pt x="6614938" y="5123825"/>
                </a:lnTo>
                <a:lnTo>
                  <a:pt x="0" y="512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580032" y="2215315"/>
            <a:ext cx="8965153" cy="6723865"/>
            <a:chOff x="0" y="0"/>
            <a:chExt cx="11953537" cy="89651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53537" cy="8965153"/>
            </a:xfrm>
            <a:custGeom>
              <a:avLst/>
              <a:gdLst/>
              <a:ahLst/>
              <a:cxnLst/>
              <a:rect r="r" b="b" t="t" l="l"/>
              <a:pathLst>
                <a:path h="8965153" w="11953537">
                  <a:moveTo>
                    <a:pt x="0" y="0"/>
                  </a:moveTo>
                  <a:lnTo>
                    <a:pt x="11953537" y="0"/>
                  </a:lnTo>
                  <a:lnTo>
                    <a:pt x="11953537" y="8965153"/>
                  </a:lnTo>
                  <a:lnTo>
                    <a:pt x="0" y="896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2118387" y="1495778"/>
              <a:ext cx="1010721" cy="1150922"/>
              <a:chOff x="0" y="0"/>
              <a:chExt cx="812800" cy="9255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925547"/>
              </a:xfrm>
              <a:custGeom>
                <a:avLst/>
                <a:gdLst/>
                <a:ahLst/>
                <a:cxnLst/>
                <a:rect r="r" b="b" t="t" l="l"/>
                <a:pathLst>
                  <a:path h="925547" w="812800">
                    <a:moveTo>
                      <a:pt x="406400" y="0"/>
                    </a:moveTo>
                    <a:lnTo>
                      <a:pt x="812800" y="462773"/>
                    </a:lnTo>
                    <a:lnTo>
                      <a:pt x="406400" y="925547"/>
                    </a:lnTo>
                    <a:lnTo>
                      <a:pt x="0" y="462773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111453"/>
                <a:ext cx="533400" cy="6550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  <a:r>
                  <a:rPr lang="en-US" sz="1900">
                    <a:solidFill>
                      <a:srgbClr val="000000"/>
                    </a:solidFill>
                    <a:latin typeface="Abhaya Libre"/>
                    <a:ea typeface="Abhaya Libre"/>
                    <a:cs typeface="Abhaya Libre"/>
                    <a:sym typeface="Abhaya Libre"/>
                  </a:rPr>
                  <a:t>H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3208" y="1859885"/>
              <a:ext cx="965540" cy="674520"/>
              <a:chOff x="0" y="0"/>
              <a:chExt cx="136249" cy="9518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6249" cy="95183"/>
              </a:xfrm>
              <a:custGeom>
                <a:avLst/>
                <a:gdLst/>
                <a:ahLst/>
                <a:cxnLst/>
                <a:rect r="r" b="b" t="t" l="l"/>
                <a:pathLst>
                  <a:path h="95183" w="136249">
                    <a:moveTo>
                      <a:pt x="0" y="0"/>
                    </a:moveTo>
                    <a:lnTo>
                      <a:pt x="136249" y="0"/>
                    </a:lnTo>
                    <a:lnTo>
                      <a:pt x="136249" y="95183"/>
                    </a:lnTo>
                    <a:lnTo>
                      <a:pt x="0" y="951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36249" cy="1332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20"/>
                  </a:lnSpc>
                </a:pPr>
                <a:r>
                  <a:rPr lang="en-US" sz="1300">
                    <a:solidFill>
                      <a:srgbClr val="000000"/>
                    </a:solidFill>
                    <a:latin typeface="Abhaya Libre"/>
                    <a:ea typeface="Abhaya Libre"/>
                    <a:cs typeface="Abhaya Libre"/>
                    <a:sym typeface="Abhaya Libre"/>
                  </a:rPr>
                  <a:t>dock,c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1231" y="2317751"/>
            <a:ext cx="8005539" cy="6381226"/>
          </a:xfrm>
          <a:custGeom>
            <a:avLst/>
            <a:gdLst/>
            <a:ahLst/>
            <a:cxnLst/>
            <a:rect r="r" b="b" t="t" l="l"/>
            <a:pathLst>
              <a:path h="6381226" w="8005539">
                <a:moveTo>
                  <a:pt x="0" y="0"/>
                </a:moveTo>
                <a:lnTo>
                  <a:pt x="8005538" y="0"/>
                </a:lnTo>
                <a:lnTo>
                  <a:pt x="8005538" y="6381226"/>
                </a:lnTo>
                <a:lnTo>
                  <a:pt x="0" y="6381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63349" y="7615316"/>
            <a:ext cx="238211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1"/>
              </a:lnSpc>
              <a:spcBef>
                <a:spcPct val="0"/>
              </a:spcBef>
            </a:pPr>
            <a:r>
              <a:rPr lang="en-US" sz="23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42510" y="6782869"/>
            <a:ext cx="311115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1"/>
              </a:lnSpc>
              <a:spcBef>
                <a:spcPct val="0"/>
              </a:spcBef>
            </a:pPr>
            <a:r>
              <a:rPr lang="en-US" sz="23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CONSTRAINTS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173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Radial Clearance: x_open &gt;= R_hex</a:t>
            </a:r>
          </a:p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Interference Mitigation: x&gt;=  R_seat</a:t>
            </a:r>
          </a:p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Vertical Bounds: H_seat &lt;= y_open &lt;= H_dock,t</a:t>
            </a:r>
          </a:p>
          <a:p>
            <a:pPr algn="l">
              <a:lnSpc>
                <a:spcPts val="34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4275" y="2420474"/>
            <a:ext cx="29801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Latch Tip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919" y="5390614"/>
            <a:ext cx="9833078" cy="173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Maximum Allowable R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adial Footprint: a1 &lt;= R_max - R</a:t>
            </a:r>
          </a:p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Hardware Interference: R - S &gt;= 5mm</a:t>
            </a:r>
          </a:p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“Upward Bending Right Elbow”</a:t>
            </a:r>
          </a:p>
          <a:p>
            <a:pPr algn="l">
              <a:lnSpc>
                <a:spcPts val="349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4919" y="4551143"/>
            <a:ext cx="32519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Packaging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19861" y="2317751"/>
            <a:ext cx="5839439" cy="6174128"/>
            <a:chOff x="0" y="0"/>
            <a:chExt cx="7785919" cy="82321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85919" cy="8232171"/>
            </a:xfrm>
            <a:custGeom>
              <a:avLst/>
              <a:gdLst/>
              <a:ahLst/>
              <a:cxnLst/>
              <a:rect r="r" b="b" t="t" l="l"/>
              <a:pathLst>
                <a:path h="8232171" w="7785919">
                  <a:moveTo>
                    <a:pt x="0" y="0"/>
                  </a:moveTo>
                  <a:lnTo>
                    <a:pt x="7785919" y="0"/>
                  </a:lnTo>
                  <a:lnTo>
                    <a:pt x="7785919" y="8232171"/>
                  </a:lnTo>
                  <a:lnTo>
                    <a:pt x="0" y="823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938093" y="2157122"/>
              <a:ext cx="4556481" cy="5665089"/>
            </a:xfrm>
            <a:custGeom>
              <a:avLst/>
              <a:gdLst/>
              <a:ahLst/>
              <a:cxnLst/>
              <a:rect r="r" b="b" t="t" l="l"/>
              <a:pathLst>
                <a:path h="5665089" w="4556481">
                  <a:moveTo>
                    <a:pt x="0" y="0"/>
                  </a:moveTo>
                  <a:lnTo>
                    <a:pt x="4556481" y="0"/>
                  </a:lnTo>
                  <a:lnTo>
                    <a:pt x="4556481" y="5665088"/>
                  </a:lnTo>
                  <a:lnTo>
                    <a:pt x="0" y="56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9" id="19"/>
            <p:cNvSpPr/>
            <p:nvPr/>
          </p:nvSpPr>
          <p:spPr>
            <a:xfrm>
              <a:off x="4645961" y="5222627"/>
              <a:ext cx="0" cy="2059912"/>
            </a:xfrm>
            <a:prstGeom prst="line">
              <a:avLst/>
            </a:prstGeom>
            <a:ln cap="flat" w="25400">
              <a:solidFill>
                <a:srgbClr val="EC0C0A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4606538" y="7287865"/>
              <a:ext cx="78846" cy="21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EC0C0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612383" y="7159941"/>
              <a:ext cx="172152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141964" y="6756554"/>
              <a:ext cx="174816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654759" y="4154979"/>
              <a:ext cx="1563400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(R_seat,H_seat)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2347" y="4709199"/>
              <a:ext cx="90695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H_boss,c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48592" y="3463511"/>
              <a:ext cx="87446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07024" y="6264195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H_dock,c</a:t>
              </a:r>
            </a:p>
          </p:txBody>
        </p:sp>
        <p:sp>
          <p:nvSpPr>
            <p:cNvPr name="AutoShape 27" id="27"/>
            <p:cNvSpPr/>
            <p:nvPr/>
          </p:nvSpPr>
          <p:spPr>
            <a:xfrm flipH="true" flipV="true">
              <a:off x="406950" y="2803300"/>
              <a:ext cx="12697" cy="437973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8" id="28"/>
            <p:cNvSpPr txBox="true"/>
            <p:nvPr/>
          </p:nvSpPr>
          <p:spPr>
            <a:xfrm rot="-5400000">
              <a:off x="-250358" y="4391884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996146" y="2367194"/>
              <a:ext cx="658613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R_hex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2461427" y="2671178"/>
              <a:ext cx="2284432" cy="1881651"/>
            </a:xfrm>
            <a:custGeom>
              <a:avLst/>
              <a:gdLst/>
              <a:ahLst/>
              <a:cxnLst/>
              <a:rect r="r" b="b" t="t" l="l"/>
              <a:pathLst>
                <a:path h="1881651" w="2284432">
                  <a:moveTo>
                    <a:pt x="0" y="0"/>
                  </a:moveTo>
                  <a:lnTo>
                    <a:pt x="2284432" y="0"/>
                  </a:lnTo>
                  <a:lnTo>
                    <a:pt x="2284432" y="1881651"/>
                  </a:lnTo>
                  <a:lnTo>
                    <a:pt x="0" y="188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FUNCTION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436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Closed Position Accuracy (Weight: 20): Heavily penalizes any deviation from the precise target seat coordinates (R_seat, H_seat) at the e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nd of the stroke .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Capture Capability (Weight: 15): Rewards designs that open wider than the required R_hex boundary, maximizing lateral capture margin .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Axial Tolerance (Weight: 10): Rewards trajectories that maintain high clearance above the seat as the tip crosses the entry threshold, maximizing vertical misalignment tolerance .</a:t>
            </a:r>
          </a:p>
          <a:p>
            <a:pPr algn="l">
              <a:lnSpc>
                <a:spcPts val="34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4275" y="2420474"/>
            <a:ext cx="82040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TARGETS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19861" y="2267592"/>
            <a:ext cx="5839439" cy="6174128"/>
            <a:chOff x="0" y="0"/>
            <a:chExt cx="7785919" cy="82321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85919" cy="8232171"/>
            </a:xfrm>
            <a:custGeom>
              <a:avLst/>
              <a:gdLst/>
              <a:ahLst/>
              <a:cxnLst/>
              <a:rect r="r" b="b" t="t" l="l"/>
              <a:pathLst>
                <a:path h="8232171" w="7785919">
                  <a:moveTo>
                    <a:pt x="0" y="0"/>
                  </a:moveTo>
                  <a:lnTo>
                    <a:pt x="7785919" y="0"/>
                  </a:lnTo>
                  <a:lnTo>
                    <a:pt x="7785919" y="8232171"/>
                  </a:lnTo>
                  <a:lnTo>
                    <a:pt x="0" y="823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38093" y="2157122"/>
              <a:ext cx="4556481" cy="5665089"/>
            </a:xfrm>
            <a:custGeom>
              <a:avLst/>
              <a:gdLst/>
              <a:ahLst/>
              <a:cxnLst/>
              <a:rect r="r" b="b" t="t" l="l"/>
              <a:pathLst>
                <a:path h="5665089" w="4556481">
                  <a:moveTo>
                    <a:pt x="0" y="0"/>
                  </a:moveTo>
                  <a:lnTo>
                    <a:pt x="4556481" y="0"/>
                  </a:lnTo>
                  <a:lnTo>
                    <a:pt x="4556481" y="5665088"/>
                  </a:lnTo>
                  <a:lnTo>
                    <a:pt x="0" y="56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>
              <a:off x="4645961" y="5222627"/>
              <a:ext cx="0" cy="2059912"/>
            </a:xfrm>
            <a:prstGeom prst="line">
              <a:avLst/>
            </a:prstGeom>
            <a:ln cap="flat" w="25400">
              <a:solidFill>
                <a:srgbClr val="EC0C0A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4606538" y="7287865"/>
              <a:ext cx="78846" cy="21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EC0C0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12383" y="7159941"/>
              <a:ext cx="172152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41964" y="6756554"/>
              <a:ext cx="174816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654759" y="4154979"/>
              <a:ext cx="1563400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(R_seat,H_seat)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2347" y="4709199"/>
              <a:ext cx="90695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48592" y="3463511"/>
              <a:ext cx="87446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07024" y="6264195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H_dock,c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H="true" flipV="true">
              <a:off x="406950" y="2803300"/>
              <a:ext cx="12697" cy="437973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-5400000">
              <a:off x="-250358" y="4391884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996146" y="2367194"/>
              <a:ext cx="658613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R_hex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461427" y="2671178"/>
              <a:ext cx="2284432" cy="1881651"/>
            </a:xfrm>
            <a:custGeom>
              <a:avLst/>
              <a:gdLst/>
              <a:ahLst/>
              <a:cxnLst/>
              <a:rect r="r" b="b" t="t" l="l"/>
              <a:pathLst>
                <a:path h="1881651" w="2284432">
                  <a:moveTo>
                    <a:pt x="0" y="0"/>
                  </a:moveTo>
                  <a:lnTo>
                    <a:pt x="2284432" y="0"/>
                  </a:lnTo>
                  <a:lnTo>
                    <a:pt x="2284432" y="1881651"/>
                  </a:lnTo>
                  <a:lnTo>
                    <a:pt x="0" y="188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FUNCTION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436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Monotonic Motion (Weight: 15): Enforces strict inward and downward motion; heavily penalizes any trajectory that zig-zags or reverses direction to preve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nt jamming .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Fo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rce Transmission (Weight: 8): Rewards high mechanical advantage. By favoring lower tip velocities porjected to downward motion, the mechanism guarantees higher pulling force when latching .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Sm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oothness (Weight: 2): Minimizes trajectory acceleration (second derivative) to ensure smooth, predictable movement.</a:t>
            </a:r>
          </a:p>
          <a:p>
            <a:pPr algn="l">
              <a:lnSpc>
                <a:spcPts val="34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4275" y="2420474"/>
            <a:ext cx="67950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KINEMATIC METRICS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19861" y="2317751"/>
            <a:ext cx="5839439" cy="6174128"/>
            <a:chOff x="0" y="0"/>
            <a:chExt cx="7785919" cy="82321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85919" cy="8232171"/>
            </a:xfrm>
            <a:custGeom>
              <a:avLst/>
              <a:gdLst/>
              <a:ahLst/>
              <a:cxnLst/>
              <a:rect r="r" b="b" t="t" l="l"/>
              <a:pathLst>
                <a:path h="8232171" w="7785919">
                  <a:moveTo>
                    <a:pt x="0" y="0"/>
                  </a:moveTo>
                  <a:lnTo>
                    <a:pt x="7785919" y="0"/>
                  </a:lnTo>
                  <a:lnTo>
                    <a:pt x="7785919" y="8232171"/>
                  </a:lnTo>
                  <a:lnTo>
                    <a:pt x="0" y="823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38093" y="2157122"/>
              <a:ext cx="4556481" cy="5665089"/>
            </a:xfrm>
            <a:custGeom>
              <a:avLst/>
              <a:gdLst/>
              <a:ahLst/>
              <a:cxnLst/>
              <a:rect r="r" b="b" t="t" l="l"/>
              <a:pathLst>
                <a:path h="5665089" w="4556481">
                  <a:moveTo>
                    <a:pt x="0" y="0"/>
                  </a:moveTo>
                  <a:lnTo>
                    <a:pt x="4556481" y="0"/>
                  </a:lnTo>
                  <a:lnTo>
                    <a:pt x="4556481" y="5665088"/>
                  </a:lnTo>
                  <a:lnTo>
                    <a:pt x="0" y="56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>
              <a:off x="4645961" y="5222627"/>
              <a:ext cx="0" cy="2059912"/>
            </a:xfrm>
            <a:prstGeom prst="line">
              <a:avLst/>
            </a:prstGeom>
            <a:ln cap="flat" w="25400">
              <a:solidFill>
                <a:srgbClr val="EC0C0A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4606538" y="7287865"/>
              <a:ext cx="78846" cy="21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EC0C0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12383" y="7159941"/>
              <a:ext cx="172152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41964" y="6756554"/>
              <a:ext cx="174816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654759" y="4154979"/>
              <a:ext cx="1563400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(R_seat,H_seat)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2347" y="4709199"/>
              <a:ext cx="90695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48592" y="3463511"/>
              <a:ext cx="87446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07024" y="6264195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H_dock,c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H="true" flipV="true">
              <a:off x="406950" y="2803300"/>
              <a:ext cx="12697" cy="437973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-5400000">
              <a:off x="-250358" y="4391884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996146" y="2367194"/>
              <a:ext cx="658613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R_hex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461427" y="2671178"/>
              <a:ext cx="2284432" cy="1881651"/>
            </a:xfrm>
            <a:custGeom>
              <a:avLst/>
              <a:gdLst/>
              <a:ahLst/>
              <a:cxnLst/>
              <a:rect r="r" b="b" t="t" l="l"/>
              <a:pathLst>
                <a:path h="1881651" w="2284432">
                  <a:moveTo>
                    <a:pt x="0" y="0"/>
                  </a:moveTo>
                  <a:lnTo>
                    <a:pt x="2284432" y="0"/>
                  </a:lnTo>
                  <a:lnTo>
                    <a:pt x="2284432" y="1881651"/>
                  </a:lnTo>
                  <a:lnTo>
                    <a:pt x="0" y="188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FUNCTION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305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Gradient-Friendly Walls (Weight: 50): Hard geometric and physical constraints are conver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ted int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smooth quadratic penalties </a:t>
            </a:r>
          </a:p>
          <a:p>
            <a:pPr algn="l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(e.g., max(0, “violation”)^2). This prevents the optimizer from getting "blinded" by abrupt mathematical cliffs .</a:t>
            </a:r>
          </a:p>
          <a:p>
            <a:pPr algn="l">
              <a:lnSpc>
                <a:spcPts val="3495"/>
              </a:lnSpc>
            </a:pP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Plateau Problem with Discrete Penalties</a:t>
            </a:r>
          </a:p>
          <a:p>
            <a:pPr algn="l">
              <a:lnSpc>
                <a:spcPts val="34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4275" y="2420474"/>
            <a:ext cx="67183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SMOOTH PENALTIES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01022" y="2251607"/>
            <a:ext cx="5839439" cy="6174128"/>
            <a:chOff x="0" y="0"/>
            <a:chExt cx="7785919" cy="82321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85919" cy="8232171"/>
            </a:xfrm>
            <a:custGeom>
              <a:avLst/>
              <a:gdLst/>
              <a:ahLst/>
              <a:cxnLst/>
              <a:rect r="r" b="b" t="t" l="l"/>
              <a:pathLst>
                <a:path h="8232171" w="7785919">
                  <a:moveTo>
                    <a:pt x="0" y="0"/>
                  </a:moveTo>
                  <a:lnTo>
                    <a:pt x="7785919" y="0"/>
                  </a:lnTo>
                  <a:lnTo>
                    <a:pt x="7785919" y="8232171"/>
                  </a:lnTo>
                  <a:lnTo>
                    <a:pt x="0" y="823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38093" y="2157122"/>
              <a:ext cx="4556481" cy="5665089"/>
            </a:xfrm>
            <a:custGeom>
              <a:avLst/>
              <a:gdLst/>
              <a:ahLst/>
              <a:cxnLst/>
              <a:rect r="r" b="b" t="t" l="l"/>
              <a:pathLst>
                <a:path h="5665089" w="4556481">
                  <a:moveTo>
                    <a:pt x="0" y="0"/>
                  </a:moveTo>
                  <a:lnTo>
                    <a:pt x="4556481" y="0"/>
                  </a:lnTo>
                  <a:lnTo>
                    <a:pt x="4556481" y="5665088"/>
                  </a:lnTo>
                  <a:lnTo>
                    <a:pt x="0" y="56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>
              <a:off x="4645961" y="5222627"/>
              <a:ext cx="0" cy="2059912"/>
            </a:xfrm>
            <a:prstGeom prst="line">
              <a:avLst/>
            </a:prstGeom>
            <a:ln cap="flat" w="25400">
              <a:solidFill>
                <a:srgbClr val="EC0C0A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4606538" y="7287865"/>
              <a:ext cx="78846" cy="21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EC0C0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12383" y="7159941"/>
              <a:ext cx="172152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41964" y="6756554"/>
              <a:ext cx="174816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654759" y="4154979"/>
              <a:ext cx="1563400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(R_seat,H_seat)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2347" y="4709199"/>
              <a:ext cx="90695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48592" y="3463511"/>
              <a:ext cx="87446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07024" y="6264195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H_dock,c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H="true" flipV="true">
              <a:off x="406950" y="2803300"/>
              <a:ext cx="12697" cy="437973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-5400000">
              <a:off x="-250358" y="4391884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996146" y="2367194"/>
              <a:ext cx="658613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R_hex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461427" y="2671178"/>
              <a:ext cx="2284432" cy="1881651"/>
            </a:xfrm>
            <a:custGeom>
              <a:avLst/>
              <a:gdLst/>
              <a:ahLst/>
              <a:cxnLst/>
              <a:rect r="r" b="b" t="t" l="l"/>
              <a:pathLst>
                <a:path h="1881651" w="2284432">
                  <a:moveTo>
                    <a:pt x="0" y="0"/>
                  </a:moveTo>
                  <a:lnTo>
                    <a:pt x="2284432" y="0"/>
                  </a:lnTo>
                  <a:lnTo>
                    <a:pt x="2284432" y="1881651"/>
                  </a:lnTo>
                  <a:lnTo>
                    <a:pt x="0" y="188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FUNCTION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348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20 * J_clos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ed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20 * J_capture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10 * J_axial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15 * J_mono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2 * J_smooth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8 *</a:t>
            </a: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J_force +</a:t>
            </a:r>
          </a:p>
          <a:p>
            <a:pPr algn="ctr">
              <a:lnSpc>
                <a:spcPts val="3495"/>
              </a:lnSpc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50 * Penalty</a:t>
            </a:r>
          </a:p>
          <a:p>
            <a:pPr algn="ctr">
              <a:lnSpc>
                <a:spcPts val="3495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45765" y="2099712"/>
            <a:ext cx="6276002" cy="6087577"/>
          </a:xfrm>
          <a:custGeom>
            <a:avLst/>
            <a:gdLst/>
            <a:ahLst/>
            <a:cxnLst/>
            <a:rect r="r" b="b" t="t" l="l"/>
            <a:pathLst>
              <a:path h="6087577" w="6276002">
                <a:moveTo>
                  <a:pt x="0" y="0"/>
                </a:moveTo>
                <a:lnTo>
                  <a:pt x="6276002" y="0"/>
                </a:lnTo>
                <a:lnTo>
                  <a:pt x="6276002" y="6087576"/>
                </a:lnTo>
                <a:lnTo>
                  <a:pt x="0" y="6087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76387" y="2420474"/>
            <a:ext cx="30301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OPTIMIZER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919" y="3259944"/>
            <a:ext cx="9833078" cy="173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Gradient-Based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SciPy Library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Allows bounding variables</a:t>
            </a:r>
          </a:p>
          <a:p>
            <a:pPr algn="l" marL="539047" indent="-269523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Great for Constraint Non-Linear Optimization Problems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45765" y="2099712"/>
            <a:ext cx="6276002" cy="6087577"/>
          </a:xfrm>
          <a:custGeom>
            <a:avLst/>
            <a:gdLst/>
            <a:ahLst/>
            <a:cxnLst/>
            <a:rect r="r" b="b" t="t" l="l"/>
            <a:pathLst>
              <a:path h="6087577" w="6276002">
                <a:moveTo>
                  <a:pt x="0" y="0"/>
                </a:moveTo>
                <a:lnTo>
                  <a:pt x="6276002" y="0"/>
                </a:lnTo>
                <a:lnTo>
                  <a:pt x="6276002" y="6087576"/>
                </a:lnTo>
                <a:lnTo>
                  <a:pt x="0" y="6087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7268" y="2677650"/>
            <a:ext cx="1278559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SLSQP (SEQUENTIAL LEAST SQUARES PROGRAMMING)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5617" y="2267592"/>
            <a:ext cx="6813804" cy="6549770"/>
          </a:xfrm>
          <a:custGeom>
            <a:avLst/>
            <a:gdLst/>
            <a:ahLst/>
            <a:cxnLst/>
            <a:rect r="r" b="b" t="t" l="l"/>
            <a:pathLst>
              <a:path h="6549770" w="6813804">
                <a:moveTo>
                  <a:pt x="0" y="0"/>
                </a:moveTo>
                <a:lnTo>
                  <a:pt x="6813804" y="0"/>
                </a:lnTo>
                <a:lnTo>
                  <a:pt x="6813804" y="6549769"/>
                </a:lnTo>
                <a:lnTo>
                  <a:pt x="0" y="654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20521" y="2251076"/>
            <a:ext cx="5639726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OPTIMIZED MECHANISM PARAMETERS</a:t>
            </a: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Link 1 (a1)          : 14.039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Link 2 (a2)          : 20.635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Origin (R)           : 25.000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Slider Pos (s)       : 20.000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Coupler offset (u,v) : (38.372, -41.745) mm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0570" y="5076825"/>
            <a:ext cx="10359628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KEY PERFORMANCE METRICS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Seat Target Error    : 0.510 mm (dx: 0.366, dy: 0.355)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Lateral Capture Margin: 9.931 mm (Positive = correctly outside R_hex)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Open Tip Height      : 66.964 mm (Constraint: &lt; 80.0)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Axial Tolerance      : 7.268 mm (Height margin above seat when passing R_hex)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Max Reach Required   : 25.495 mm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2799" y="2236886"/>
            <a:ext cx="5839439" cy="6174128"/>
            <a:chOff x="0" y="0"/>
            <a:chExt cx="7785919" cy="82321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85919" cy="8232171"/>
            </a:xfrm>
            <a:custGeom>
              <a:avLst/>
              <a:gdLst/>
              <a:ahLst/>
              <a:cxnLst/>
              <a:rect r="r" b="b" t="t" l="l"/>
              <a:pathLst>
                <a:path h="8232171" w="7785919">
                  <a:moveTo>
                    <a:pt x="0" y="0"/>
                  </a:moveTo>
                  <a:lnTo>
                    <a:pt x="7785919" y="0"/>
                  </a:lnTo>
                  <a:lnTo>
                    <a:pt x="7785919" y="8232171"/>
                  </a:lnTo>
                  <a:lnTo>
                    <a:pt x="0" y="823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938093" y="2157122"/>
              <a:ext cx="4556481" cy="5665089"/>
            </a:xfrm>
            <a:custGeom>
              <a:avLst/>
              <a:gdLst/>
              <a:ahLst/>
              <a:cxnLst/>
              <a:rect r="r" b="b" t="t" l="l"/>
              <a:pathLst>
                <a:path h="5665089" w="4556481">
                  <a:moveTo>
                    <a:pt x="0" y="0"/>
                  </a:moveTo>
                  <a:lnTo>
                    <a:pt x="4556481" y="0"/>
                  </a:lnTo>
                  <a:lnTo>
                    <a:pt x="4556481" y="5665088"/>
                  </a:lnTo>
                  <a:lnTo>
                    <a:pt x="0" y="56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>
              <a:off x="4645961" y="5222627"/>
              <a:ext cx="0" cy="2059912"/>
            </a:xfrm>
            <a:prstGeom prst="line">
              <a:avLst/>
            </a:prstGeom>
            <a:ln cap="flat" w="25400">
              <a:solidFill>
                <a:srgbClr val="EC0C0A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4606538" y="7287865"/>
              <a:ext cx="78846" cy="21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EC0C0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612383" y="7159941"/>
              <a:ext cx="172152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41964" y="6756554"/>
              <a:ext cx="174816" cy="21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6"/>
                </a:lnSpc>
              </a:pPr>
              <a:r>
                <a:rPr lang="en-US" sz="9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54759" y="4154979"/>
              <a:ext cx="1563400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(R_seat,H_seat)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2347" y="4709199"/>
              <a:ext cx="90695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8592" y="3463511"/>
              <a:ext cx="874468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H_boss,t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07024" y="6264195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H_dock,c</a:t>
              </a:r>
            </a:p>
          </p:txBody>
        </p:sp>
        <p:sp>
          <p:nvSpPr>
            <p:cNvPr name="AutoShape 23" id="23"/>
            <p:cNvSpPr/>
            <p:nvPr/>
          </p:nvSpPr>
          <p:spPr>
            <a:xfrm flipH="true" flipV="true">
              <a:off x="406950" y="2803300"/>
              <a:ext cx="12697" cy="437973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4" id="24"/>
            <p:cNvSpPr txBox="true"/>
            <p:nvPr/>
          </p:nvSpPr>
          <p:spPr>
            <a:xfrm rot="-5400000">
              <a:off x="-250358" y="4391884"/>
              <a:ext cx="918599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H_dock,t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996146" y="2367194"/>
              <a:ext cx="658613" cy="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4"/>
                </a:lnSpc>
              </a:pPr>
              <a:r>
                <a:rPr lang="en-US" sz="12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R_hex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461427" y="2671178"/>
              <a:ext cx="2284432" cy="1881651"/>
            </a:xfrm>
            <a:custGeom>
              <a:avLst/>
              <a:gdLst/>
              <a:ahLst/>
              <a:cxnLst/>
              <a:rect r="r" b="b" t="t" l="l"/>
              <a:pathLst>
                <a:path h="1881651" w="2284432">
                  <a:moveTo>
                    <a:pt x="0" y="0"/>
                  </a:moveTo>
                  <a:lnTo>
                    <a:pt x="2284432" y="0"/>
                  </a:lnTo>
                  <a:lnTo>
                    <a:pt x="2284432" y="1881651"/>
                  </a:lnTo>
                  <a:lnTo>
                    <a:pt x="0" y="188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920521" y="2251076"/>
            <a:ext cx="5639726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OPTIMIZED MECHANISM PARAMETERS</a:t>
            </a: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Link 1 (a1)          : 14.039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Link 2 (a2)          : 20.635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Origin (R)           : 25.000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Slider Pos (s)       : 20.000 mm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Coupler offset (u,v) : (38.372, -41.745) mm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60570" y="5076825"/>
            <a:ext cx="10359628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KEY PERFORMANCE METRICS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Seat Target Error    : 0.510 mm (dx: 0.366, dy: 0.355)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Lateral Capture Margin: 9.931 mm (Positive = correctly outside R_hex)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Open Tip Height      : 66.964 mm (Constraint: &lt; 80.0)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Axial Tolerance      : 7.268 mm (Height margin above seat when passing R_hex)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Max Reach Required   : 25.495 mm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4803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DAHG-uphzPs</dc:identifier>
  <dcterms:modified xsi:type="dcterms:W3CDTF">2011-08-01T06:04:30Z</dcterms:modified>
  <cp:revision>1</cp:revision>
  <dc:title>ME701 Project</dc:title>
</cp:coreProperties>
</file>